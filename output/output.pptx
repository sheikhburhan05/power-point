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14748189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7B8AA-3F14-A5DF-A72C-718B32B767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19ECB4-179E-E591-E009-ACF5EE4E4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734C6-2A1D-9FFC-2047-191912A33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A18A5-6572-266A-DE23-A4ADD5BC2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D715A-F09E-DA9D-9943-9D6AC90CC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931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D0B2D-5250-895A-D878-2F97BCB1D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A09A0-4830-4400-8069-FBBE992C5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0C553-3A3D-F562-AE25-4A84C1524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4F08B-9AD0-6C84-1FBE-A7220BD7D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D38D6-46D2-48A7-0B5A-793F74DE0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672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A6A9A-8AA0-DA31-2264-B74FF4231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F5D956-E2E3-010E-9276-F4131F746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03CCC-A45F-E4E2-7F20-F6B46336B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C2CB3-C4F1-0A26-FD45-A44674BE9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98366-AA51-7D64-98B5-7F26D3C07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89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C858B-99FD-14B6-E62E-02B76410B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E9A37-A147-DB4C-1013-D19458F690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C0C34D-9342-ED77-FA2F-3DAE1CE2C7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A6AD65-3C91-7DA4-F731-F1B175D94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B874F8-7F1B-8401-8014-8C5198C4A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8A10D-07F9-1A3C-CF40-CBFE42871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534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5DFFD-9596-63F3-750B-1EBF44BDE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9BC8F-B009-2141-B60A-59ABB7CE7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E0DB29-16F9-F199-0F0B-9C403FF11D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BE5735-B721-F1A9-2982-497D4D3593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758965-F431-FD4C-540E-58BD2DDD3A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BF66CC-C350-ABBA-86FB-F026AC6FC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200507-45C5-B05B-EF37-A01951108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8F3553-1C41-D1DC-4AFD-AB2E6265D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947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EB716-3F2D-4DBD-1990-469BFFAE8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7870FA-3976-7280-CDEF-C6440BE29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D04B10-81BF-4A36-FA57-DF3B3CF9D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01919B-4F67-26A4-B7CD-61F8933C8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93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C86A23-6036-60EC-1BD9-133E1A0BA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8CEF6A-C068-DF27-0E0D-74DC72319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28EDB-3358-F8BE-26E4-0C5329C5D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095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D7470-7A56-9DCA-0DCE-9679BCD1C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0ABB0-965D-9C4A-8641-DD961510B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9B1529-115F-ABE7-3E8B-3890A58BD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43197-CD56-E24A-8647-1A7E2E4CC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B6F43B-DB94-A1C2-44D6-CE9CB5C5C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6EB33-80EC-7763-B552-3247D4C2E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634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D2089-33EB-3A47-0936-8288F6566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E3E6A9-F3F1-4104-06A4-D95A1E1038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C07C5A-C8F4-8BB9-0466-1AB24F407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CEFB2-9124-8F7F-47A1-7EE182C50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47592-A933-E9F8-670D-A973CF3D4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29C28-464F-D219-56D3-DBFD954B5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26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E3F0-950C-E1B6-0909-03F08FC78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279AC8-0F34-6875-C03B-2EB44495E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E8E5C-16CF-770A-E22B-4DC0FE307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B409B-B18F-8454-4E44-E2ED1562F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67DB6-8532-ED01-7EF4-844B931F4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368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D4CCC5-8EF6-31A8-6CEE-E6031286FC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A984CE-EC07-3686-DA5D-D073A6703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3467E-0922-DE8B-10DE-F46AE19CF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B5158-248A-EE97-FA02-BD5D32E83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F2D15-20D8-7D78-F189-B99019C65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89850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1F6635-4BCD-5D44-5723-9E5AF79C6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74B7F-60B4-7613-C600-80705B63B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D4801-B3DD-7756-BE52-537BC8F533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9EC22-4519-4700-877E-36031F56C96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CBD43-82C5-F015-8585-C829E88277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2D452-2480-FCB7-E87F-FAE0FF5A94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655AD3-E375-4912-ABCD-F888EEB4D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053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6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586D0-4DF0-93F2-61F3-D86D0EE59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D69B0E3-ABFC-A380-D414-BD3857D4CF7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405" progId="TCLayout.ActiveDocument.1">
                  <p:embed/>
                </p:oleObj>
              </mc:Choice>
              <mc:Fallback>
                <p:oleObj name="think-cell Slide" r:id="rId3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69B0E3-ABFC-A380-D414-BD3857D4CF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F7482EF-B077-560C-7195-0A2BBC9A3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867" y="365125"/>
            <a:ext cx="10916333" cy="1325563"/>
          </a:xfrm>
        </p:spPr>
        <p:txBody>
          <a:bodyPr vert="horz" wrap="square">
            <a:normAutofit/>
          </a:bodyPr>
          <a:lstStyle/>
          <a:p>
            <a:pPr/>
            <a:r>
              <a:rPr sz="3600">
                <a:latin typeface="Aptos"/>
              </a:rPr>
              <a:t>Precision Irrigation Hardware</a:t>
            </a:r>
            <a:r>
              <a:rPr sz="3600">
                <a:latin typeface="Aptos"/>
              </a:rPr>
              <a:t>Value Chain for KSA</a:t>
            </a:r>
            <a:endParaRPr lang="en-US" sz="3600" dirty="0">
              <a:latin typeface="Aptos" panose="020B0004020202020204" pitchFamily="34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98B825C-4A20-A8B8-7187-6309BF9F3269}"/>
              </a:ext>
            </a:extLst>
          </p:cNvPr>
          <p:cNvGrpSpPr/>
          <p:nvPr/>
        </p:nvGrpSpPr>
        <p:grpSpPr>
          <a:xfrm>
            <a:off x="656490" y="2080819"/>
            <a:ext cx="1807576" cy="4156352"/>
            <a:chOff x="723868" y="2080819"/>
            <a:chExt cx="1982212" cy="4156352"/>
          </a:xfrm>
        </p:grpSpPr>
        <p:sp>
          <p:nvSpPr>
            <p:cNvPr id="5" name="Arrow: Pentagon 4">
              <a:extLst>
                <a:ext uri="{FF2B5EF4-FFF2-40B4-BE49-F238E27FC236}">
                  <a16:creationId xmlns:a16="http://schemas.microsoft.com/office/drawing/2014/main" id="{3C1E3B05-0EDB-1AD9-3795-4A10CAADCD27}"/>
                </a:ext>
              </a:extLst>
            </p:cNvPr>
            <p:cNvSpPr/>
            <p:nvPr/>
          </p:nvSpPr>
          <p:spPr>
            <a:xfrm rot="5400000">
              <a:off x="1284978" y="1519709"/>
              <a:ext cx="859992" cy="1982212"/>
            </a:xfrm>
            <a:prstGeom prst="homePlate">
              <a:avLst>
                <a:gd name="adj" fmla="val 28484"/>
              </a:avLst>
            </a:prstGeom>
            <a:solidFill>
              <a:schemeClr val="bg2">
                <a:lumMod val="90000"/>
              </a:schemeClr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sz="1600">
                  <a:solidFill>
                    <a:srgbClr val="FFFFFF"/>
                  </a:solidFill>
                  <a:latin typeface="Aptos"/>
                </a:rPr>
                <a:t>Product design and localization</a:t>
              </a:r>
            </a:p>
          </p:txBody>
        </p:sp>
        <p:sp>
          <p:nvSpPr>
            <p:cNvPr id="6" name="Arrow: Chevron 5">
              <a:extLst>
                <a:ext uri="{FF2B5EF4-FFF2-40B4-BE49-F238E27FC236}">
                  <a16:creationId xmlns:a16="http://schemas.microsoft.com/office/drawing/2014/main" id="{F5E73CC7-3FC6-2E71-6F47-1D3852ADE84A}"/>
                </a:ext>
              </a:extLst>
            </p:cNvPr>
            <p:cNvSpPr/>
            <p:nvPr/>
          </p:nvSpPr>
          <p:spPr>
            <a:xfrm rot="5400000">
              <a:off x="1284978" y="2178981"/>
              <a:ext cx="859992" cy="1982212"/>
            </a:xfrm>
            <a:prstGeom prst="chevron">
              <a:avLst>
                <a:gd name="adj" fmla="val 29560"/>
              </a:avLst>
            </a:prstGeom>
            <a:solidFill>
              <a:srgbClr val="274986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sz="1600">
                  <a:solidFill>
                    <a:srgbClr val="FFFFFF"/>
                  </a:solidFill>
                  <a:latin typeface="Aptos"/>
                </a:rPr>
                <a:t>Component sourcing</a:t>
              </a:r>
            </a:p>
          </p:txBody>
        </p:sp>
        <p:sp>
          <p:nvSpPr>
            <p:cNvPr id="7" name="Arrow: Chevron 6">
              <a:extLst>
                <a:ext uri="{FF2B5EF4-FFF2-40B4-BE49-F238E27FC236}">
                  <a16:creationId xmlns:a16="http://schemas.microsoft.com/office/drawing/2014/main" id="{CA4FBD98-EB84-1DBF-C418-017DC378C054}"/>
                </a:ext>
              </a:extLst>
            </p:cNvPr>
            <p:cNvSpPr/>
            <p:nvPr/>
          </p:nvSpPr>
          <p:spPr>
            <a:xfrm rot="5400000">
              <a:off x="1284978" y="2838253"/>
              <a:ext cx="859992" cy="1982212"/>
            </a:xfrm>
            <a:prstGeom prst="chevron">
              <a:avLst>
                <a:gd name="adj" fmla="val 29560"/>
              </a:avLst>
            </a:prstGeom>
            <a:solidFill>
              <a:srgbClr val="274986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sz="1600">
                  <a:solidFill>
                    <a:srgbClr val="FFFFFF"/>
                  </a:solidFill>
                  <a:latin typeface="Aptos"/>
                </a:rPr>
                <a:t>Manufacturing and assembly</a:t>
              </a:r>
            </a:p>
          </p:txBody>
        </p:sp>
        <p:sp>
          <p:nvSpPr>
            <p:cNvPr id="8" name="Arrow: Chevron 7">
              <a:extLst>
                <a:ext uri="{FF2B5EF4-FFF2-40B4-BE49-F238E27FC236}">
                  <a16:creationId xmlns:a16="http://schemas.microsoft.com/office/drawing/2014/main" id="{7FA8B5E0-74E4-BAF1-7FE9-958841729145}"/>
                </a:ext>
              </a:extLst>
            </p:cNvPr>
            <p:cNvSpPr/>
            <p:nvPr/>
          </p:nvSpPr>
          <p:spPr>
            <a:xfrm rot="5400000">
              <a:off x="1284978" y="3497525"/>
              <a:ext cx="859992" cy="1982212"/>
            </a:xfrm>
            <a:prstGeom prst="chevron">
              <a:avLst>
                <a:gd name="adj" fmla="val 29560"/>
              </a:avLst>
            </a:prstGeom>
            <a:solidFill>
              <a:srgbClr val="274986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sz="1600">
                  <a:solidFill>
                    <a:srgbClr val="FFFFFF"/>
                  </a:solidFill>
                  <a:latin typeface="Aptos"/>
                </a:rPr>
                <a:t>Distribution and channel management</a:t>
              </a:r>
            </a:p>
          </p:txBody>
        </p:sp>
        <p:sp>
          <p:nvSpPr>
            <p:cNvPr id="9" name="Arrow: Chevron 8">
              <a:extLst>
                <a:ext uri="{FF2B5EF4-FFF2-40B4-BE49-F238E27FC236}">
                  <a16:creationId xmlns:a16="http://schemas.microsoft.com/office/drawing/2014/main" id="{3C744E60-0A61-D2B3-E80B-3168294AEC34}"/>
                </a:ext>
              </a:extLst>
            </p:cNvPr>
            <p:cNvSpPr/>
            <p:nvPr/>
          </p:nvSpPr>
          <p:spPr>
            <a:xfrm rot="5400000">
              <a:off x="1284978" y="4156798"/>
              <a:ext cx="859992" cy="1982212"/>
            </a:xfrm>
            <a:prstGeom prst="chevron">
              <a:avLst>
                <a:gd name="adj" fmla="val 29560"/>
              </a:avLst>
            </a:prstGeom>
            <a:solidFill>
              <a:srgbClr val="274986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sz="1600">
                  <a:solidFill>
                    <a:srgbClr val="FFFFFF"/>
                  </a:solidFill>
                  <a:latin typeface="Aptos"/>
                </a:rPr>
                <a:t>Installation and commissioning</a:t>
              </a:r>
            </a:p>
          </p:txBody>
        </p:sp>
        <p:sp>
          <p:nvSpPr>
            <p:cNvPr id="11" name="Arrow: Chevron 10">
              <a:extLst>
                <a:ext uri="{FF2B5EF4-FFF2-40B4-BE49-F238E27FC236}">
                  <a16:creationId xmlns:a16="http://schemas.microsoft.com/office/drawing/2014/main" id="{CF736869-8898-1685-6B98-4586C41F8B4D}"/>
                </a:ext>
              </a:extLst>
            </p:cNvPr>
            <p:cNvSpPr/>
            <p:nvPr/>
          </p:nvSpPr>
          <p:spPr>
            <a:xfrm rot="5400000">
              <a:off x="1284978" y="4816069"/>
              <a:ext cx="859992" cy="1982212"/>
            </a:xfrm>
            <a:prstGeom prst="chevron">
              <a:avLst>
                <a:gd name="adj" fmla="val 29560"/>
              </a:avLst>
            </a:prstGeom>
            <a:solidFill>
              <a:srgbClr val="274986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sz="1600">
                  <a:solidFill>
                    <a:srgbClr val="FFFFFF"/>
                  </a:solidFill>
                  <a:latin typeface="Aptos"/>
                </a:rPr>
                <a:t>After‑sales service and spares</a:t>
              </a:r>
            </a:p>
          </p:txBody>
        </p: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8044B27-2C41-EFB6-C0F1-8164F3882BD3}"/>
              </a:ext>
            </a:extLst>
          </p:cNvPr>
          <p:cNvCxnSpPr>
            <a:cxnSpLocks/>
          </p:cNvCxnSpPr>
          <p:nvPr/>
        </p:nvCxnSpPr>
        <p:spPr>
          <a:xfrm>
            <a:off x="646867" y="1908864"/>
            <a:ext cx="5231927" cy="0"/>
          </a:xfrm>
          <a:prstGeom prst="line">
            <a:avLst/>
          </a:prstGeom>
          <a:ln w="9525" cap="rnd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AAB8D72-7FE4-E2A1-2E9B-6443BCC19FF4}"/>
              </a:ext>
            </a:extLst>
          </p:cNvPr>
          <p:cNvSpPr txBox="1"/>
          <p:nvPr/>
        </p:nvSpPr>
        <p:spPr>
          <a:xfrm>
            <a:off x="951926" y="1577112"/>
            <a:ext cx="4621810" cy="320492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sz="1800">
                <a:solidFill>
                  <a:srgbClr val="575757"/>
                </a:solidFill>
                <a:latin typeface="Aptos"/>
              </a:rPr>
              <a:t>Primary Activities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88C5696-6D64-AF42-C68E-CB053777483D}"/>
              </a:ext>
            </a:extLst>
          </p:cNvPr>
          <p:cNvGrpSpPr/>
          <p:nvPr/>
        </p:nvGrpSpPr>
        <p:grpSpPr>
          <a:xfrm>
            <a:off x="6355941" y="2080819"/>
            <a:ext cx="1807576" cy="2837808"/>
            <a:chOff x="6452195" y="2080819"/>
            <a:chExt cx="1982212" cy="2837808"/>
          </a:xfrm>
        </p:grpSpPr>
        <p:sp>
          <p:nvSpPr>
            <p:cNvPr id="27" name="Arrow: Pentagon 26">
              <a:extLst>
                <a:ext uri="{FF2B5EF4-FFF2-40B4-BE49-F238E27FC236}">
                  <a16:creationId xmlns:a16="http://schemas.microsoft.com/office/drawing/2014/main" id="{4C635998-DAC0-D58F-F870-A77F4B4654D1}"/>
                </a:ext>
              </a:extLst>
            </p:cNvPr>
            <p:cNvSpPr/>
            <p:nvPr/>
          </p:nvSpPr>
          <p:spPr>
            <a:xfrm rot="5400000">
              <a:off x="7013305" y="1519709"/>
              <a:ext cx="859992" cy="1982212"/>
            </a:xfrm>
            <a:prstGeom prst="homePlate">
              <a:avLst>
                <a:gd name="adj" fmla="val 28484"/>
              </a:avLst>
            </a:prstGeom>
            <a:solidFill>
              <a:schemeClr val="bg2">
                <a:lumMod val="90000"/>
              </a:schemeClr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sz="1600">
                  <a:solidFill>
                    <a:srgbClr val="FFFFFF"/>
                  </a:solidFill>
                  <a:latin typeface="Aptos"/>
                </a:rPr>
                <a:t>R&amp;D</a:t>
              </a:r>
            </a:p>
          </p:txBody>
        </p:sp>
        <p:sp>
          <p:nvSpPr>
            <p:cNvPr id="28" name="Arrow: Chevron 27">
              <a:extLst>
                <a:ext uri="{FF2B5EF4-FFF2-40B4-BE49-F238E27FC236}">
                  <a16:creationId xmlns:a16="http://schemas.microsoft.com/office/drawing/2014/main" id="{C973DF42-3993-DD1E-1047-1B9F08A0F3DE}"/>
                </a:ext>
              </a:extLst>
            </p:cNvPr>
            <p:cNvSpPr/>
            <p:nvPr/>
          </p:nvSpPr>
          <p:spPr>
            <a:xfrm rot="5400000">
              <a:off x="7013305" y="2178981"/>
              <a:ext cx="859992" cy="1982212"/>
            </a:xfrm>
            <a:prstGeom prst="chevron">
              <a:avLst>
                <a:gd name="adj" fmla="val 29560"/>
              </a:avLst>
            </a:prstGeom>
            <a:solidFill>
              <a:srgbClr val="FF9C00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sz="1600">
                  <a:solidFill>
                    <a:srgbClr val="FFFFFF"/>
                  </a:solidFill>
                  <a:latin typeface="Aptos"/>
                </a:rPr>
                <a:t>Procurement</a:t>
              </a:r>
            </a:p>
          </p:txBody>
        </p:sp>
        <p:sp>
          <p:nvSpPr>
            <p:cNvPr id="29" name="Arrow: Chevron 28">
              <a:extLst>
                <a:ext uri="{FF2B5EF4-FFF2-40B4-BE49-F238E27FC236}">
                  <a16:creationId xmlns:a16="http://schemas.microsoft.com/office/drawing/2014/main" id="{41BCF814-D0B5-B8FF-797F-11439A393CFB}"/>
                </a:ext>
              </a:extLst>
            </p:cNvPr>
            <p:cNvSpPr/>
            <p:nvPr/>
          </p:nvSpPr>
          <p:spPr>
            <a:xfrm rot="5400000">
              <a:off x="7013305" y="2838253"/>
              <a:ext cx="859992" cy="1982212"/>
            </a:xfrm>
            <a:prstGeom prst="chevron">
              <a:avLst>
                <a:gd name="adj" fmla="val 29560"/>
              </a:avLst>
            </a:prstGeom>
            <a:solidFill>
              <a:srgbClr val="FF9C00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sz="1600">
                  <a:solidFill>
                    <a:srgbClr val="FFFFFF"/>
                  </a:solidFill>
                  <a:latin typeface="Aptos"/>
                </a:rPr>
                <a:t>Quality control</a:t>
              </a:r>
            </a:p>
          </p:txBody>
        </p:sp>
        <p:sp>
          <p:nvSpPr>
            <p:cNvPr id="30" name="Arrow: Chevron 29">
              <a:extLst>
                <a:ext uri="{FF2B5EF4-FFF2-40B4-BE49-F238E27FC236}">
                  <a16:creationId xmlns:a16="http://schemas.microsoft.com/office/drawing/2014/main" id="{C8D1222B-97AC-685A-64B2-B920C1B51881}"/>
                </a:ext>
              </a:extLst>
            </p:cNvPr>
            <p:cNvSpPr/>
            <p:nvPr/>
          </p:nvSpPr>
          <p:spPr>
            <a:xfrm rot="5400000">
              <a:off x="7013305" y="3497525"/>
              <a:ext cx="859992" cy="1982212"/>
            </a:xfrm>
            <a:prstGeom prst="chevron">
              <a:avLst>
                <a:gd name="adj" fmla="val 29560"/>
              </a:avLst>
            </a:prstGeom>
            <a:solidFill>
              <a:srgbClr val="FF9C00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sz="1600">
                  <a:solidFill>
                    <a:srgbClr val="FFFFFF"/>
                  </a:solidFill>
                  <a:latin typeface="Aptos"/>
                </a:rPr>
                <a:t>Marketing</a:t>
              </a:r>
            </a:p>
          </p:txBody>
        </p:sp>
      </p:grpSp>
      <p:sp>
        <p:nvSpPr>
          <p:cNvPr id="33" name="ee4pFootnotes">
            <a:extLst>
              <a:ext uri="{FF2B5EF4-FFF2-40B4-BE49-F238E27FC236}">
                <a16:creationId xmlns:a16="http://schemas.microsoft.com/office/drawing/2014/main" id="{E31FE9FA-84B9-4CAD-7B3D-499BEB219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00" y="6421441"/>
            <a:ext cx="9030914" cy="138499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vert="horz" wrap="square" lIns="0" tIns="0" rIns="0" bIns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0" i="0">
                <a:latin typeface="Aptos"/>
              </a:rPr>
              <a:t>Source: Lebanese poultry syndicate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EDDFC39-D101-3594-30EF-D9E73AFFEF8F}"/>
              </a:ext>
            </a:extLst>
          </p:cNvPr>
          <p:cNvCxnSpPr>
            <a:cxnSpLocks/>
          </p:cNvCxnSpPr>
          <p:nvPr/>
        </p:nvCxnSpPr>
        <p:spPr>
          <a:xfrm>
            <a:off x="6331272" y="1908864"/>
            <a:ext cx="5231927" cy="0"/>
          </a:xfrm>
          <a:prstGeom prst="line">
            <a:avLst/>
          </a:prstGeom>
          <a:ln w="9525" cap="rnd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F481C02-B86C-00C9-E1A6-765D814F6273}"/>
              </a:ext>
            </a:extLst>
          </p:cNvPr>
          <p:cNvSpPr txBox="1"/>
          <p:nvPr/>
        </p:nvSpPr>
        <p:spPr>
          <a:xfrm>
            <a:off x="6636331" y="1577112"/>
            <a:ext cx="4621810" cy="320492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sz="1800">
                <a:solidFill>
                  <a:srgbClr val="575757"/>
                </a:solidFill>
                <a:latin typeface="Aptos"/>
              </a:rPr>
              <a:t>Secondary Activities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E2CC3B0-94FC-CEE7-22F5-9D575A1EF36B}"/>
              </a:ext>
            </a:extLst>
          </p:cNvPr>
          <p:cNvSpPr/>
          <p:nvPr/>
        </p:nvSpPr>
        <p:spPr>
          <a:xfrm>
            <a:off x="2464067" y="2738964"/>
            <a:ext cx="3371994" cy="654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/>
            <a:r>
              <a:rPr sz="1600">
                <a:solidFill>
                  <a:schemeClr val="bg2">
                    <a:lumMod val="10000"/>
                  </a:schemeClr>
                </a:solidFill>
                <a:latin typeface="Aptos"/>
              </a:rPr>
              <a:t>Secures sensors, valves, controllers, plastics, and elect...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1541BAA-3AA3-E1C8-5646-57966573F9BB}"/>
              </a:ext>
            </a:extLst>
          </p:cNvPr>
          <p:cNvSpPr/>
          <p:nvPr/>
        </p:nvSpPr>
        <p:spPr>
          <a:xfrm>
            <a:off x="2464067" y="3392144"/>
            <a:ext cx="3371994" cy="654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/>
            <a:r>
              <a:rPr sz="1600">
                <a:solidFill>
                  <a:schemeClr val="bg2">
                    <a:lumMod val="10000"/>
                  </a:schemeClr>
                </a:solidFill>
                <a:latin typeface="Aptos"/>
              </a:rPr>
              <a:t>Executes localized production and assembly of irrigation...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0FC39CA-9A6A-69B0-A43F-F7BF37C4DF69}"/>
              </a:ext>
            </a:extLst>
          </p:cNvPr>
          <p:cNvSpPr/>
          <p:nvPr/>
        </p:nvSpPr>
        <p:spPr>
          <a:xfrm>
            <a:off x="2464067" y="4026384"/>
            <a:ext cx="3371994" cy="654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/>
            <a:r>
              <a:rPr sz="1600">
                <a:solidFill>
                  <a:schemeClr val="bg2">
                    <a:lumMod val="10000"/>
                  </a:schemeClr>
                </a:solidFill>
                <a:latin typeface="Aptos"/>
              </a:rPr>
              <a:t>Manages dealer networks, agri‑retail partners, and direct...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4BE15E4-4F6A-1510-39B5-0B85F8D1C229}"/>
              </a:ext>
            </a:extLst>
          </p:cNvPr>
          <p:cNvSpPr/>
          <p:nvPr/>
        </p:nvSpPr>
        <p:spPr>
          <a:xfrm>
            <a:off x="2464067" y="4703388"/>
            <a:ext cx="3371994" cy="654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/>
            <a:r>
              <a:rPr sz="1600">
                <a:solidFill>
                  <a:schemeClr val="bg2">
                    <a:lumMod val="10000"/>
                  </a:schemeClr>
                </a:solidFill>
                <a:latin typeface="Aptos"/>
              </a:rPr>
              <a:t>Implements on‑farm hardware deployment, calibration, and...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40349D7-D61F-3116-FCEB-A796CD2BF013}"/>
              </a:ext>
            </a:extLst>
          </p:cNvPr>
          <p:cNvSpPr/>
          <p:nvPr/>
        </p:nvSpPr>
        <p:spPr>
          <a:xfrm>
            <a:off x="2464067" y="5385704"/>
            <a:ext cx="3371994" cy="654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/>
            <a:r>
              <a:rPr sz="1600">
                <a:solidFill>
                  <a:schemeClr val="bg2">
                    <a:lumMod val="10000"/>
                  </a:schemeClr>
                </a:solidFill>
                <a:latin typeface="Aptos"/>
              </a:rPr>
              <a:t>Provides maintenance,</a:t>
            </a:r>
            <a:r>
              <a:rPr sz="1600">
                <a:solidFill>
                  <a:schemeClr val="bg2">
                    <a:lumMod val="10000"/>
                  </a:schemeClr>
                </a:solidFill>
                <a:latin typeface="Aptos"/>
              </a:rPr>
              <a:t>spare parts,</a:t>
            </a:r>
            <a:r>
              <a:rPr sz="1600">
                <a:solidFill>
                  <a:schemeClr val="bg2">
                    <a:lumMod val="10000"/>
                  </a:schemeClr>
                </a:solidFill>
                <a:latin typeface="Aptos"/>
              </a:rPr>
              <a:t>SLAs, and troubleshoot...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C478D45-8FA7-0B6F-BE60-3EA5CE8807A1}"/>
              </a:ext>
            </a:extLst>
          </p:cNvPr>
          <p:cNvSpPr/>
          <p:nvPr/>
        </p:nvSpPr>
        <p:spPr>
          <a:xfrm>
            <a:off x="2464067" y="2082521"/>
            <a:ext cx="3371994" cy="654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/>
            <a:r>
              <a:rPr sz="1600">
                <a:solidFill>
                  <a:schemeClr val="bg2">
                    <a:lumMod val="10000"/>
                  </a:schemeClr>
                </a:solidFill>
                <a:latin typeface="Aptos"/>
              </a:rPr>
              <a:t>Develops irrigation hardware adapted to KSA climate, soil...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1EC9F1C-0467-D64D-4F0F-3F39231F4B30}"/>
              </a:ext>
            </a:extLst>
          </p:cNvPr>
          <p:cNvSpPr/>
          <p:nvPr/>
        </p:nvSpPr>
        <p:spPr>
          <a:xfrm>
            <a:off x="8163517" y="2738964"/>
            <a:ext cx="3371994" cy="654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/>
            <a:r>
              <a:rPr sz="1600">
                <a:solidFill>
                  <a:schemeClr val="bg2">
                    <a:lumMod val="10000"/>
                  </a:schemeClr>
                </a:solidFill>
                <a:latin typeface="Aptos"/>
              </a:rPr>
              <a:t>Optimizes supplier selection, cost control, and localizat...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6C75B0F-3317-F1DC-8BEB-5D53B22C4C36}"/>
              </a:ext>
            </a:extLst>
          </p:cNvPr>
          <p:cNvSpPr/>
          <p:nvPr/>
        </p:nvSpPr>
        <p:spPr>
          <a:xfrm>
            <a:off x="8163517" y="3392144"/>
            <a:ext cx="3371994" cy="654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/>
            <a:r>
              <a:rPr sz="1600">
                <a:solidFill>
                  <a:schemeClr val="bg2">
                    <a:lumMod val="10000"/>
                  </a:schemeClr>
                </a:solidFill>
                <a:latin typeface="Aptos"/>
              </a:rPr>
              <a:t>Ensures product reliability through testing of sensors, c...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57DD2A6-49E0-810E-67B9-D0E692EB5245}"/>
              </a:ext>
            </a:extLst>
          </p:cNvPr>
          <p:cNvSpPr/>
          <p:nvPr/>
        </p:nvSpPr>
        <p:spPr>
          <a:xfrm>
            <a:off x="8163517" y="4026384"/>
            <a:ext cx="3371994" cy="654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/>
            <a:r>
              <a:rPr sz="1600">
                <a:solidFill>
                  <a:schemeClr val="bg2">
                    <a:lumMod val="10000"/>
                  </a:schemeClr>
                </a:solidFill>
                <a:latin typeface="Aptos"/>
              </a:rPr>
              <a:t>Builds trust through performance evidence, water‑savings...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5FFFD6B-0975-AE92-0514-A9CD291EA5D0}"/>
              </a:ext>
            </a:extLst>
          </p:cNvPr>
          <p:cNvSpPr/>
          <p:nvPr/>
        </p:nvSpPr>
        <p:spPr>
          <a:xfrm>
            <a:off x="8163517" y="2082521"/>
            <a:ext cx="3371994" cy="654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/>
            <a:r>
              <a:rPr sz="1600">
                <a:solidFill>
                  <a:schemeClr val="bg2">
                    <a:lumMod val="10000"/>
                  </a:schemeClr>
                </a:solidFill>
                <a:latin typeface="Aptos"/>
              </a:rPr>
              <a:t>Enhances hardware durability and digital integration alig...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E4131EE-98A5-C9A4-1F33-B93608ED6089}"/>
              </a:ext>
            </a:extLst>
          </p:cNvPr>
          <p:cNvGrpSpPr/>
          <p:nvPr/>
        </p:nvGrpSpPr>
        <p:grpSpPr>
          <a:xfrm>
            <a:off x="6331272" y="5236159"/>
            <a:ext cx="3762688" cy="843541"/>
            <a:chOff x="6331272" y="5577900"/>
            <a:chExt cx="3762688" cy="843541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38A7609-D7D8-2AFB-637E-DB7C0342A7D0}"/>
                </a:ext>
              </a:extLst>
            </p:cNvPr>
            <p:cNvSpPr/>
            <p:nvPr/>
          </p:nvSpPr>
          <p:spPr>
            <a:xfrm>
              <a:off x="6331272" y="5889759"/>
              <a:ext cx="240790" cy="199000"/>
            </a:xfrm>
            <a:prstGeom prst="rect">
              <a:avLst/>
            </a:prstGeom>
            <a:solidFill>
              <a:srgbClr val="2749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FD5592F-AF7C-AC5C-13E2-A006C7A91DEB}"/>
                </a:ext>
              </a:extLst>
            </p:cNvPr>
            <p:cNvSpPr/>
            <p:nvPr/>
          </p:nvSpPr>
          <p:spPr>
            <a:xfrm>
              <a:off x="6544960" y="5866889"/>
              <a:ext cx="3549000" cy="2447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/>
              <a:r>
                <a:rPr sz="1200">
                  <a:solidFill>
                    <a:schemeClr val="bg2">
                      <a:lumMod val="10000"/>
                    </a:schemeClr>
                  </a:solidFill>
                  <a:latin typeface="Aptos"/>
                </a:rPr>
                <a:t>Broilers value chain available in Lebanon</a:t>
              </a: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73C9D601-1ED1-88FB-191B-DD41BA9DA272}"/>
                </a:ext>
              </a:extLst>
            </p:cNvPr>
            <p:cNvGrpSpPr/>
            <p:nvPr/>
          </p:nvGrpSpPr>
          <p:grpSpPr>
            <a:xfrm>
              <a:off x="6331272" y="5577900"/>
              <a:ext cx="2276607" cy="244741"/>
              <a:chOff x="8061062" y="5844780"/>
              <a:chExt cx="2276607" cy="244741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9B963D63-67EF-DB26-B7E8-5265CF32B87B}"/>
                  </a:ext>
                </a:extLst>
              </p:cNvPr>
              <p:cNvSpPr/>
              <p:nvPr/>
            </p:nvSpPr>
            <p:spPr>
              <a:xfrm>
                <a:off x="8061062" y="5867650"/>
                <a:ext cx="240790" cy="199000"/>
              </a:xfrm>
              <a:prstGeom prst="rect">
                <a:avLst/>
              </a:pr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FA62B6EC-05E4-8D47-0E96-DE1BD6CC28D6}"/>
                  </a:ext>
                </a:extLst>
              </p:cNvPr>
              <p:cNvSpPr/>
              <p:nvPr/>
            </p:nvSpPr>
            <p:spPr>
              <a:xfrm>
                <a:off x="8274751" y="5844780"/>
                <a:ext cx="2062918" cy="2447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wrap="square">
                <a:normAutofit/>
              </a:bodyPr>
              <a:lstStyle/>
              <a:p>
                <a:pPr/>
                <a:r>
                  <a:rPr sz="1200">
                    <a:solidFill>
                      <a:schemeClr val="bg2">
                        <a:lumMod val="10000"/>
                      </a:schemeClr>
                    </a:solidFill>
                    <a:latin typeface="Aptos"/>
                  </a:rPr>
                  <a:t>Not available in Lebanon</a:t>
                </a: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59058C-C286-8848-3547-3B81BDA0A999}"/>
                </a:ext>
              </a:extLst>
            </p:cNvPr>
            <p:cNvSpPr/>
            <p:nvPr/>
          </p:nvSpPr>
          <p:spPr>
            <a:xfrm>
              <a:off x="6331272" y="6199570"/>
              <a:ext cx="240790" cy="199000"/>
            </a:xfrm>
            <a:prstGeom prst="rect">
              <a:avLst/>
            </a:prstGeom>
            <a:solidFill>
              <a:srgbClr val="FF9C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066E623-1F99-D37D-91DA-173F978C01E0}"/>
                </a:ext>
              </a:extLst>
            </p:cNvPr>
            <p:cNvSpPr/>
            <p:nvPr/>
          </p:nvSpPr>
          <p:spPr>
            <a:xfrm>
              <a:off x="6544960" y="6176700"/>
              <a:ext cx="3549000" cy="2447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/>
              <a:r>
                <a:rPr sz="1200">
                  <a:solidFill>
                    <a:schemeClr val="bg2">
                      <a:lumMod val="10000"/>
                    </a:schemeClr>
                  </a:solidFill>
                  <a:latin typeface="Aptos"/>
                </a:rPr>
                <a:t>Layers value chain available in Lebanon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7332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D322B393C8B34FBB077CB5022D5C3A" ma:contentTypeVersion="10" ma:contentTypeDescription="Create a new document." ma:contentTypeScope="" ma:versionID="67a88a5a795ed40bb8f453a0a5694b3b">
  <xsd:schema xmlns:xsd="http://www.w3.org/2001/XMLSchema" xmlns:xs="http://www.w3.org/2001/XMLSchema" xmlns:p="http://schemas.microsoft.com/office/2006/metadata/properties" xmlns:ns3="de39b2b0-0935-4677-b49d-8d47f73ddf82" targetNamespace="http://schemas.microsoft.com/office/2006/metadata/properties" ma:root="true" ma:fieldsID="87f65674b366babb6a6b724613ae38b1" ns3:_="">
    <xsd:import namespace="de39b2b0-0935-4677-b49d-8d47f73ddf8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39b2b0-0935-4677-b49d-8d47f73ddf8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e39b2b0-0935-4677-b49d-8d47f73ddf82" xsi:nil="true"/>
  </documentManagement>
</p:properties>
</file>

<file path=customXml/itemProps1.xml><?xml version="1.0" encoding="utf-8"?>
<ds:datastoreItem xmlns:ds="http://schemas.openxmlformats.org/officeDocument/2006/customXml" ds:itemID="{B66C5EC7-E3B0-4064-ACDC-116F8963F4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39b2b0-0935-4677-b49d-8d47f73ddf8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7BDEC37-13C0-4D80-A295-F17BC34880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E15F72-DCD4-4CC5-9DBF-17EE1186D8E7}">
  <ds:schemaRefs>
    <ds:schemaRef ds:uri="http://schemas.microsoft.com/office/2006/documentManagement/types"/>
    <ds:schemaRef ds:uri="http://purl.org/dc/elements/1.1/"/>
    <ds:schemaRef ds:uri="http://purl.org/dc/dcmitype/"/>
    <ds:schemaRef ds:uri="http://schemas.openxmlformats.org/package/2006/metadata/core-properties"/>
    <ds:schemaRef ds:uri="de39b2b0-0935-4677-b49d-8d47f73ddf82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Office Theme</vt:lpstr>
      <vt:lpstr>think-cell Slide</vt:lpstr>
      <vt:lpstr>Poultry sector is integrated across the value chains of both broilers and layers but not fully utilized in broilers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Mudassir Aqeel Ahmed</dc:creator>
  <cp:lastModifiedBy>Mudassir Aqeel Ahmed</cp:lastModifiedBy>
  <cp:revision>1</cp:revision>
  <dcterms:created xsi:type="dcterms:W3CDTF">2026-06-24T12:02:31Z</dcterms:created>
  <dcterms:modified xsi:type="dcterms:W3CDTF">2026-06-24T12:03:12Z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0x010100FAD322B393C8B34FBB077CB5022D5C3A</vt:lpwstr>
  </property>
</Properties>
</file>